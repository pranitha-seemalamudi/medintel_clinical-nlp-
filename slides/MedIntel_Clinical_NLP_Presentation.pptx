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90"/>
  </p:normalViewPr>
  <p:slideViewPr>
    <p:cSldViewPr snapToGrid="0" snapToObjects="1">
      <p:cViewPr varScale="1">
        <p:scale>
          <a:sx n="119" d="100"/>
          <a:sy n="119" d="100"/>
        </p:scale>
        <p:origin x="50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2D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95425" y="9144"/>
            <a:ext cx="74980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dirty="0">
                <a:solidFill>
                  <a:srgbClr val="FFFFFF"/>
                </a:solidFill>
                <a:latin typeface="Calibri"/>
              </a:rPr>
              <a:t>Clinical Natural Language
Technology in Health Care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0809" y="1404022"/>
            <a:ext cx="7315200" cy="25400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92440" y="109728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D4007A"/>
                </a:solidFill>
                <a:latin typeface="Calibri"/>
              </a:rPr>
              <a:t>$935B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187452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B8E8"/>
                </a:solidFill>
                <a:latin typeface="Calibri Light"/>
              </a:rPr>
              <a:t>Annual healthcare waste
identified (JAMA, 2019)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66760" y="2651760"/>
            <a:ext cx="2926080" cy="25400"/>
          </a:xfrm>
          <a:prstGeom prst="rect">
            <a:avLst/>
          </a:prstGeom>
          <a:solidFill>
            <a:srgbClr val="442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92440" y="28346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D4007A"/>
                </a:solidFill>
                <a:latin typeface="Calibri"/>
              </a:rPr>
              <a:t>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361188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B8E8"/>
                </a:solidFill>
                <a:latin typeface="Calibri Light"/>
              </a:rPr>
              <a:t>of health data is
unstructured 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4389120"/>
            <a:ext cx="2926080" cy="25400"/>
          </a:xfrm>
          <a:prstGeom prst="rect">
            <a:avLst/>
          </a:prstGeom>
          <a:solidFill>
            <a:srgbClr val="442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92440" y="457200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D4007A"/>
                </a:solidFill>
                <a:latin typeface="Calibri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534924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B8E8"/>
                </a:solidFill>
                <a:latin typeface="Calibri Light"/>
              </a:rPr>
              <a:t>AI analysis tasks
run per note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0" y="65562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D4007A"/>
                </a:solidFill>
                <a:latin typeface="Calibri"/>
              </a:rPr>
              <a:t>CONFIDENTIAL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584939-B6E1-5BEF-02BA-546B22804BE1}"/>
              </a:ext>
            </a:extLst>
          </p:cNvPr>
          <p:cNvSpPr txBox="1"/>
          <p:nvPr/>
        </p:nvSpPr>
        <p:spPr>
          <a:xfrm>
            <a:off x="189208" y="1241672"/>
            <a:ext cx="7498078" cy="5341470"/>
          </a:xfrm>
          <a:prstGeom prst="rect">
            <a:avLst/>
          </a:prstGeom>
          <a:blipFill dpi="0" rotWithShape="1">
            <a:blip r:embed="rId2">
              <a:alphaModFix amt="62277"/>
            </a:blip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24" name="Camera 23">
            <a:extLst>
              <a:ext uri="{FF2B5EF4-FFF2-40B4-BE49-F238E27FC236}">
                <a16:creationId xmlns:a16="http://schemas.microsoft.com/office/drawing/2014/main" id="{10DAAE38-7004-655E-B8D6-44DDFB683E1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49129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A0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007A"/>
                </a:solidFill>
                <a:latin typeface="Calibri Light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80% of Healthcare Data Is Unstructured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13180"/>
            <a:ext cx="12188952" cy="25400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0A3D"/>
                </a:solidFill>
                <a:latin typeface="Calibri"/>
              </a:rPr>
              <a:t>Where Clinical Data Lives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6479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55"/>
                </a:solidFill>
                <a:latin typeface="Calibri"/>
              </a:rPr>
              <a:t>Unstructured (notes, reports, images)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65960"/>
            <a:ext cx="5029200" cy="384048"/>
          </a:xfrm>
          <a:prstGeom prst="rect">
            <a:avLst/>
          </a:prstGeom>
          <a:solidFill>
            <a:srgbClr val="ED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965960"/>
            <a:ext cx="4023360" cy="384048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69080" y="196596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706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55"/>
                </a:solidFill>
                <a:latin typeface="Calibri"/>
              </a:rPr>
              <a:t>Structured (EHR fields, labs, claims)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71800"/>
            <a:ext cx="5029200" cy="384048"/>
          </a:xfrm>
          <a:prstGeom prst="rect">
            <a:avLst/>
          </a:prstGeom>
          <a:solidFill>
            <a:srgbClr val="ED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2971800"/>
            <a:ext cx="1005840" cy="384048"/>
          </a:xfrm>
          <a:prstGeom prst="rect">
            <a:avLst/>
          </a:prstGeom>
          <a:solidFill>
            <a:srgbClr val="C0B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297180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463040"/>
            <a:ext cx="5394960" cy="507492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1645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0A3D"/>
                </a:solidFill>
                <a:latin typeface="Calibri"/>
              </a:rPr>
              <a:t>Why This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057400"/>
            <a:ext cx="5029200" cy="1867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 dirty="0">
                <a:solidFill>
                  <a:srgbClr val="D4007A"/>
                </a:solidFill>
                <a:latin typeface="Calibri"/>
              </a:rPr>
              <a:t>  •  </a:t>
            </a:r>
            <a:r>
              <a:rPr sz="1150" dirty="0">
                <a:solidFill>
                  <a:srgbClr val="333355"/>
                </a:solidFill>
                <a:latin typeface="Calibri"/>
              </a:rPr>
              <a:t>Physician notes, discharge summaries, and pathology
reports are locked in unstructured text</a:t>
            </a:r>
          </a:p>
          <a:p>
            <a:pPr>
              <a:spcBef>
                <a:spcPts val="400"/>
              </a:spcBef>
            </a:pPr>
            <a:r>
              <a:rPr sz="1050" dirty="0">
                <a:solidFill>
                  <a:srgbClr val="D4007A"/>
                </a:solidFill>
                <a:latin typeface="Calibri"/>
              </a:rPr>
              <a:t>  •  </a:t>
            </a:r>
            <a:r>
              <a:rPr sz="1150" dirty="0">
                <a:solidFill>
                  <a:srgbClr val="333355"/>
                </a:solidFill>
                <a:latin typeface="Calibri"/>
              </a:rPr>
              <a:t>Manual coding and chart review is slow, expensive,
and error-prone adding cost to every claim</a:t>
            </a:r>
          </a:p>
          <a:p>
            <a:pPr>
              <a:spcBef>
                <a:spcPts val="400"/>
              </a:spcBef>
            </a:pPr>
            <a:r>
              <a:rPr sz="1050" dirty="0">
                <a:solidFill>
                  <a:srgbClr val="D4007A"/>
                </a:solidFill>
                <a:latin typeface="Calibri"/>
              </a:rPr>
              <a:t>  •  </a:t>
            </a:r>
            <a:r>
              <a:rPr sz="1150" dirty="0">
                <a:solidFill>
                  <a:srgbClr val="333355"/>
                </a:solidFill>
                <a:latin typeface="Calibri"/>
              </a:rPr>
              <a:t>Clinical NLP bridges the gap between raw text
and actionable intelligence</a:t>
            </a:r>
          </a:p>
          <a:p>
            <a:pPr>
              <a:spcBef>
                <a:spcPts val="400"/>
              </a:spcBef>
            </a:pPr>
            <a:r>
              <a:rPr sz="1050" dirty="0">
                <a:solidFill>
                  <a:srgbClr val="D4007A"/>
                </a:solidFill>
                <a:latin typeface="Calibri"/>
              </a:rPr>
              <a:t>  •  </a:t>
            </a:r>
            <a:r>
              <a:rPr sz="1150" dirty="0">
                <a:solidFill>
                  <a:srgbClr val="333355"/>
                </a:solidFill>
                <a:latin typeface="Calibri"/>
              </a:rPr>
              <a:t>Payers lose billions annually to preventable
coding gaps and billing inconsistencies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655624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B8E8"/>
                </a:solidFill>
                <a:latin typeface="Calibri Light"/>
              </a:rPr>
              <a:t>MedIntel  |  Clinical NLP Intelligence Platform  |  Internship Assessment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562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D4007A"/>
                </a:solidFill>
                <a:latin typeface="Calibri"/>
              </a:rPr>
              <a:t>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8B8E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A0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007A"/>
                </a:solidFill>
                <a:latin typeface="Calibri Light"/>
              </a:rPr>
              <a:t>CLINICAL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Turning Clinical Language Into Actionable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12188952" cy="25400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39012" y="1600200"/>
            <a:ext cx="1737360" cy="777240"/>
          </a:xfrm>
          <a:prstGeom prst="rect">
            <a:avLst/>
          </a:prstGeom>
          <a:solidFill>
            <a:srgbClr val="1A0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24712" y="1666240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 dirty="0">
                <a:solidFill>
                  <a:srgbClr val="FFFFFF"/>
                </a:solidFill>
                <a:latin typeface="Calibri"/>
              </a:rPr>
              <a:t>Clinical
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2948" y="1764792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4007A"/>
                </a:solidFill>
                <a:latin typeface="Calibri"/>
              </a:rPr>
              <a:t>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2404" y="1600200"/>
            <a:ext cx="1737360" cy="777240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32404" y="1651000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Named Entity
Recognition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6340" y="1764792"/>
            <a:ext cx="2560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4007A"/>
                </a:solidFill>
                <a:latin typeface="Calibri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25796" y="1600200"/>
            <a:ext cx="1737360" cy="777240"/>
          </a:xfrm>
          <a:prstGeom prst="rect">
            <a:avLst/>
          </a:prstGeom>
          <a:solidFill>
            <a:srgbClr val="2D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25796" y="1651000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ICD-10
Coding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9732" y="1764792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4007A"/>
                </a:solidFill>
                <a:latin typeface="Calibri"/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19188" y="1600200"/>
            <a:ext cx="1737360" cy="7772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19188" y="1651000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Risk
Scoring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3124" y="1764792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4007A"/>
                </a:solidFill>
                <a:latin typeface="Calibri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12580" y="1600200"/>
            <a:ext cx="1737360" cy="77724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12580" y="1651000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Structured
Output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651760"/>
            <a:ext cx="3566160" cy="265176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2651760"/>
            <a:ext cx="201168" cy="2651760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2834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0A3D"/>
                </a:solidFill>
                <a:latin typeface="Calibri"/>
              </a:rPr>
              <a:t>Named Entity Recognition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246120"/>
            <a:ext cx="3200400" cy="25400"/>
          </a:xfrm>
          <a:prstGeom prst="rect">
            <a:avLst/>
          </a:prstGeom>
          <a:solidFill>
            <a:srgbClr val="D0C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3364992"/>
            <a:ext cx="32004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55"/>
                </a:solidFill>
                <a:latin typeface="Calibri Light"/>
              </a:rPr>
              <a:t>Extracts diagnoses, medications, procedures, lab values, and vital signs from free text with clinical precision.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2651760"/>
            <a:ext cx="3566160" cy="265176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251960" y="2651760"/>
            <a:ext cx="201168" cy="2651760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0" y="2834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0A3D"/>
                </a:solidFill>
                <a:latin typeface="Calibri"/>
              </a:rPr>
              <a:t>ICD-10 / HCC Coding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3246120"/>
            <a:ext cx="3200400" cy="25400"/>
          </a:xfrm>
          <a:prstGeom prst="rect">
            <a:avLst/>
          </a:prstGeom>
          <a:solidFill>
            <a:srgbClr val="D0C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0" y="3364992"/>
            <a:ext cx="32004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55"/>
                </a:solidFill>
                <a:latin typeface="Calibri Light"/>
              </a:rPr>
              <a:t>Suggests billable codes with evidence from the note. Flags HCC-relevant conditions for risk adjustment.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01000" y="2651760"/>
            <a:ext cx="3566160" cy="265176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01000" y="2651760"/>
            <a:ext cx="201168" cy="2651760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21040" y="2834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0A3D"/>
                </a:solidFill>
                <a:latin typeface="Calibri"/>
              </a:rPr>
              <a:t>Risk Scoring &amp; Prior Auth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3246120"/>
            <a:ext cx="3200400" cy="25400"/>
          </a:xfrm>
          <a:prstGeom prst="rect">
            <a:avLst/>
          </a:prstGeom>
          <a:solidFill>
            <a:srgbClr val="D0C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21040" y="3364992"/>
            <a:ext cx="32004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55"/>
                </a:solidFill>
                <a:latin typeface="Calibri Light"/>
              </a:rPr>
              <a:t>Calculates 30-day readmission risk, payment complexity, and identifies services requiring prior authorization.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655624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B8E8"/>
                </a:solidFill>
                <a:latin typeface="Calibri Light"/>
              </a:rPr>
              <a:t>MedIntel  |  Clinical NLP Intelligence Platform  |  Internship Assessment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5562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D4007A"/>
                </a:solidFill>
                <a:latin typeface="Calibri"/>
              </a:rPr>
              <a:t>CONFIDENTIAL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8B8E8"/>
                </a:solidFill>
                <a:latin typeface="Calibri"/>
              </a:rPr>
              <a:t>3</a:t>
            </a:r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2C894B6E-943C-071C-0339-0DDF3704A878}"/>
              </a:ext>
            </a:extLst>
          </p:cNvPr>
          <p:cNvSpPr/>
          <p:nvPr/>
        </p:nvSpPr>
        <p:spPr>
          <a:xfrm>
            <a:off x="2670048" y="1876806"/>
            <a:ext cx="754380" cy="251460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A0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007A"/>
                </a:solidFill>
                <a:latin typeface="Calibri Light"/>
              </a:rPr>
              <a:t>EVOLUTION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Three Generations of Clinical NLP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12188952" cy="25400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788920"/>
            <a:ext cx="10881360" cy="36576"/>
          </a:xfrm>
          <a:prstGeom prst="rect">
            <a:avLst/>
          </a:prstGeom>
          <a:solidFill>
            <a:srgbClr val="D0C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221992" y="2697480"/>
            <a:ext cx="219456" cy="219456"/>
          </a:xfrm>
          <a:prstGeom prst="ellipse">
            <a:avLst/>
          </a:prstGeom>
          <a:solidFill>
            <a:srgbClr val="88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3383280" cy="1234440"/>
          </a:xfrm>
          <a:prstGeom prst="rect">
            <a:avLst/>
          </a:prstGeom>
          <a:solidFill>
            <a:srgbClr val="88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52704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1960s – 2000s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8013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Rule-Based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35808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55"/>
                </a:solidFill>
                <a:latin typeface="Calibri Light"/>
              </a:rPr>
              <a:t>cTAKES, MedLEE
Hand-crafted grammar rules
High precision, low recall</a:t>
            </a:r>
          </a:p>
        </p:txBody>
      </p:sp>
      <p:sp>
        <p:nvSpPr>
          <p:cNvPr id="14" name="Oval 13"/>
          <p:cNvSpPr/>
          <p:nvPr/>
        </p:nvSpPr>
        <p:spPr>
          <a:xfrm>
            <a:off x="5696712" y="2697480"/>
            <a:ext cx="219456" cy="219456"/>
          </a:xfrm>
          <a:prstGeom prst="ellipse">
            <a:avLst/>
          </a:prstGeom>
          <a:solidFill>
            <a:srgbClr val="2D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114800" y="2926080"/>
            <a:ext cx="3383280" cy="1234440"/>
          </a:xfrm>
          <a:prstGeom prst="rect">
            <a:avLst/>
          </a:prstGeom>
          <a:solidFill>
            <a:srgbClr val="2D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51960" y="303580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2000s – 2017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3101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Statistical Machine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1527048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55"/>
                </a:solidFill>
                <a:latin typeface="Calibri Light"/>
              </a:rPr>
              <a:t>CRFs, SVMs on MIMIC-III
Feature engineering
Better generalization</a:t>
            </a:r>
          </a:p>
        </p:txBody>
      </p:sp>
      <p:sp>
        <p:nvSpPr>
          <p:cNvPr id="19" name="Oval 18"/>
          <p:cNvSpPr/>
          <p:nvPr/>
        </p:nvSpPr>
        <p:spPr>
          <a:xfrm>
            <a:off x="9171432" y="2697480"/>
            <a:ext cx="219456" cy="219456"/>
          </a:xfrm>
          <a:prstGeom prst="ellipse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589520" y="1417320"/>
            <a:ext cx="3383280" cy="1234440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26680" y="152704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2017 – Present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80" y="18013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Large Language 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3035808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55"/>
                </a:solidFill>
                <a:latin typeface="Calibri Light"/>
              </a:rPr>
              <a:t>BioBERT, GPT-4, Med-PaLM 2
Zero-shot clinical reasoning
Multimodal + OCR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892040"/>
            <a:ext cx="11183112" cy="86868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20" y="4892040"/>
            <a:ext cx="11183112" cy="25400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498348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0A3D"/>
                </a:solidFill>
                <a:latin typeface="Calibri Light"/>
              </a:rPr>
              <a:t>LLMs achieve expert-level performance on clinical benchmarks with zero task-specific training — a fundamental shift from previous NLP approaches.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655624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B8E8"/>
                </a:solidFill>
                <a:latin typeface="Calibri Light"/>
              </a:rPr>
              <a:t>MedIntel  |  Clinical NLP Intelligence Platform  |  Internship Assessment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5562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D4007A"/>
                </a:solidFill>
                <a:latin typeface="Calibri"/>
              </a:rPr>
              <a:t>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8B8E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A0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007A"/>
                </a:solidFill>
                <a:latin typeface="Calibri Light"/>
              </a:rPr>
              <a:t>LLM INFLECTION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Large Language Models Are Redefining What's Possible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-127" y="1325880"/>
            <a:ext cx="12188952" cy="25400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0A3D"/>
                </a:solidFill>
                <a:latin typeface="Calibri"/>
              </a:rPr>
              <a:t>USMLE Step 3 Benchmark (% questions correct)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373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55"/>
                </a:solidFill>
                <a:latin typeface="Calibri"/>
              </a:rPr>
              <a:t>Human Expert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938528"/>
            <a:ext cx="5669280" cy="347472"/>
          </a:xfrm>
          <a:prstGeom prst="rect">
            <a:avLst/>
          </a:prstGeom>
          <a:solidFill>
            <a:srgbClr val="ED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938528"/>
            <a:ext cx="4932273" cy="347472"/>
          </a:xfrm>
          <a:prstGeom prst="rect">
            <a:avLst/>
          </a:prstGeom>
          <a:solidFill>
            <a:srgbClr val="1A0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2353" y="192024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0A3D"/>
                </a:solidFill>
                <a:latin typeface="Calibri"/>
              </a:rPr>
              <a:t>87%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603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55"/>
                </a:solidFill>
                <a:latin typeface="Calibri"/>
              </a:rPr>
              <a:t>Med-PaLM 2 (Google, 2023)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761488"/>
            <a:ext cx="5669280" cy="347472"/>
          </a:xfrm>
          <a:prstGeom prst="rect">
            <a:avLst/>
          </a:prstGeom>
          <a:solidFill>
            <a:srgbClr val="ED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2761488"/>
            <a:ext cx="4875580" cy="347472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15660" y="274320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007A"/>
                </a:solidFill>
                <a:latin typeface="Calibri"/>
              </a:rPr>
              <a:t>86%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3832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55"/>
                </a:solidFill>
                <a:latin typeface="Calibri"/>
              </a:rPr>
              <a:t>GPT-4 (OpenAI, 2023)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584448"/>
            <a:ext cx="5669280" cy="347472"/>
          </a:xfrm>
          <a:prstGeom prst="rect">
            <a:avLst/>
          </a:prstGeom>
          <a:solidFill>
            <a:srgbClr val="ED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584448"/>
            <a:ext cx="4762195" cy="34747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02275" y="356616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6EFD"/>
                </a:solidFill>
                <a:latin typeface="Calibri"/>
              </a:rPr>
              <a:t>84%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2062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55"/>
                </a:solidFill>
                <a:latin typeface="Calibri"/>
              </a:rPr>
              <a:t>GPT-3.5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407408"/>
            <a:ext cx="5669280" cy="347472"/>
          </a:xfrm>
          <a:prstGeom prst="rect">
            <a:avLst/>
          </a:prstGeom>
          <a:solidFill>
            <a:srgbClr val="ED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4407408"/>
            <a:ext cx="3231489" cy="347472"/>
          </a:xfrm>
          <a:prstGeom prst="rect">
            <a:avLst/>
          </a:prstGeom>
          <a:solidFill>
            <a:srgbClr val="C0B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71569" y="438912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B0E0"/>
                </a:solidFill>
                <a:latin typeface="Calibri"/>
              </a:rPr>
              <a:t>56%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1417320"/>
            <a:ext cx="5120640" cy="512064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720840" y="1417320"/>
            <a:ext cx="201168" cy="5120640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4088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0A3D"/>
                </a:solidFill>
                <a:latin typeface="Calibri"/>
              </a:rPr>
              <a:t>Key Capabilities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4007A"/>
                </a:solidFill>
                <a:latin typeface="Calibri"/>
              </a:rPr>
              <a:t>  •  </a:t>
            </a:r>
            <a:r>
              <a:rPr sz="1100">
                <a:solidFill>
                  <a:srgbClr val="333355"/>
                </a:solidFill>
                <a:latin typeface="Calibri"/>
              </a:rPr>
              <a:t>Zero-shot clinical reasoning — no task-specific training needed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4007A"/>
                </a:solidFill>
                <a:latin typeface="Calibri"/>
              </a:rPr>
              <a:t>  •  </a:t>
            </a:r>
            <a:r>
              <a:rPr sz="1100">
                <a:solidFill>
                  <a:srgbClr val="333355"/>
                </a:solidFill>
                <a:latin typeface="Calibri"/>
              </a:rPr>
              <a:t>Multimodal: radiology images + report in a single pass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4007A"/>
                </a:solidFill>
                <a:latin typeface="Calibri"/>
              </a:rPr>
              <a:t>  •  </a:t>
            </a:r>
            <a:r>
              <a:rPr sz="1100">
                <a:solidFill>
                  <a:srgbClr val="333355"/>
                </a:solidFill>
                <a:latin typeface="Calibri"/>
              </a:rPr>
              <a:t>OCR + comprehension: scanned paper documents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4007A"/>
                </a:solidFill>
                <a:latin typeface="Calibri"/>
              </a:rPr>
              <a:t>  •  </a:t>
            </a:r>
            <a:r>
              <a:rPr sz="1100">
                <a:solidFill>
                  <a:srgbClr val="333355"/>
                </a:solidFill>
                <a:latin typeface="Calibri"/>
              </a:rPr>
              <a:t>Streaming inference — real-time token-by-token output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4007A"/>
                </a:solidFill>
                <a:latin typeface="Calibri"/>
              </a:rPr>
              <a:t>  •  </a:t>
            </a:r>
            <a:r>
              <a:rPr sz="1100">
                <a:solidFill>
                  <a:srgbClr val="333355"/>
                </a:solidFill>
                <a:latin typeface="Calibri"/>
              </a:rPr>
              <a:t>Structured JSON outputs — directly ingest into EHR/claims systems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21792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AA"/>
                </a:solidFill>
                <a:latin typeface="Calibri Light"/>
              </a:rPr>
              <a:t>Source: Singhal et al. (2023), Nature  ·  OpenAI GPT-4 Technical Report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655624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B8E8"/>
                </a:solidFill>
                <a:latin typeface="Calibri Light"/>
              </a:rPr>
              <a:t>MedIntel  |  Clinical NLP Intelligence Platform  |  Internship Assessment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562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D4007A"/>
                </a:solidFill>
                <a:latin typeface="Calibri"/>
              </a:rPr>
              <a:t>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8B8E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A0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007A"/>
                </a:solidFill>
                <a:latin typeface="Calibri Light"/>
              </a:rPr>
              <a:t>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Four High-Value Applications in Payer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12188952" cy="25400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5577840" cy="237744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463040"/>
            <a:ext cx="201168" cy="2377440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463040"/>
            <a:ext cx="5577840" cy="438912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" y="155448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Prior Authorization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01168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55"/>
                </a:solidFill>
                <a:latin typeface="Calibri Light"/>
              </a:rPr>
              <a:t>AI reads PA requests against payer policy in real time. Reduces provider abrasion, speeds approvals, flags inappropriate requests automatically.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1821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007A"/>
                </a:solidFill>
                <a:latin typeface="Calibri"/>
              </a:rPr>
              <a:t>ROI: 60-80% reduction in manual review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463040"/>
            <a:ext cx="5577840" cy="237744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35040" y="1463040"/>
            <a:ext cx="201168" cy="2377440"/>
          </a:xfrm>
          <a:prstGeom prst="rect">
            <a:avLst/>
          </a:prstGeom>
          <a:solidFill>
            <a:srgbClr val="2D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35040" y="1463040"/>
            <a:ext cx="5577840" cy="438912"/>
          </a:xfrm>
          <a:prstGeom prst="rect">
            <a:avLst/>
          </a:prstGeom>
          <a:solidFill>
            <a:srgbClr val="2D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27648" y="155448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Risk Adjustment / HCC Coding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01168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55"/>
                </a:solidFill>
                <a:latin typeface="Calibri Light"/>
              </a:rPr>
              <a:t>Surfaces uncodified diagnoses hidden in clinical notes. Closes HCC coding gaps across millions of member records at scale.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31821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1464"/>
                </a:solidFill>
                <a:latin typeface="Calibri"/>
              </a:rPr>
              <a:t>ROI: 2-5% increase in risk-adjusted revenue capture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977639"/>
            <a:ext cx="5577840" cy="237744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" y="3977639"/>
            <a:ext cx="201168" cy="237744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3977639"/>
            <a:ext cx="5577840" cy="438912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" y="4069079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Claims Audit &amp; Fraud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4526279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55"/>
                </a:solidFill>
                <a:latin typeface="Calibri Light"/>
              </a:rPr>
              <a:t>Flags upcoding patterns, unbundling, and documentation gaps before claim payment. Integrates with existing payment integrity workflows.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5696711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0000"/>
                </a:solidFill>
                <a:latin typeface="Calibri"/>
              </a:rPr>
              <a:t>ROI: Avg $935B in annual US healthcare waste (JAMA 2019)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3977639"/>
            <a:ext cx="5577840" cy="237744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35040" y="3977639"/>
            <a:ext cx="201168" cy="2377440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035040" y="3977639"/>
            <a:ext cx="5577840" cy="43891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27648" y="4069079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Quality Measure Abstraction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4526279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55"/>
                </a:solidFill>
                <a:latin typeface="Calibri Light"/>
              </a:rPr>
              <a:t>Automates HEDIS and STARS measure documentation from clinical notes. Replaces expensive manual medical record review at scale.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5696711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6EFD"/>
                </a:solidFill>
                <a:latin typeface="Calibri"/>
              </a:rPr>
              <a:t>ROI: 70% reduction in medical record abstraction cost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655624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B8E8"/>
                </a:solidFill>
                <a:latin typeface="Calibri Light"/>
              </a:rPr>
              <a:t>MedIntel  |  Clinical NLP Intelligence Platform  |  Internship Assessment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562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D4007A"/>
                </a:solidFill>
                <a:latin typeface="Calibri"/>
              </a:rPr>
              <a:t>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8B8E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A0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007A"/>
                </a:solidFill>
                <a:latin typeface="Calibri Light"/>
              </a:rPr>
              <a:t>RISKS &amp; MITIGATIONS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Real Risks Require Real Guardrails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12188952" cy="25400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303520" cy="4114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4447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417320"/>
            <a:ext cx="5650992" cy="41148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1444752"/>
            <a:ext cx="5650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Mitigation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20240"/>
            <a:ext cx="5303520" cy="9144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97510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8B0000"/>
                </a:solidFill>
                <a:latin typeface="Calibri"/>
              </a:rPr>
              <a:t>LLM Hallucination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24942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55"/>
                </a:solidFill>
                <a:latin typeface="Calibri Light"/>
              </a:rPr>
              <a:t>Model generates plausible but incorrect clinical facts or codes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920240"/>
            <a:ext cx="5650992" cy="91440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2011680"/>
            <a:ext cx="5394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55"/>
                </a:solidFill>
                <a:latin typeface="Calibri Light"/>
              </a:rPr>
              <a:t>Hybrid architecture: LLM extracts, rule-based layer validates against clinical ontologies (SNOMED, ICD-10)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944368"/>
            <a:ext cx="53035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9992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8B0000"/>
                </a:solidFill>
                <a:latin typeface="Calibri"/>
              </a:rPr>
              <a:t>HIPAA / PHI Exposure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27355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55"/>
                </a:solidFill>
                <a:latin typeface="Calibri Light"/>
              </a:rPr>
              <a:t>Patient data processed by third-party model APIs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944368"/>
            <a:ext cx="5650992" cy="914400"/>
          </a:xfrm>
          <a:prstGeom prst="rect">
            <a:avLst/>
          </a:prstGeom>
          <a:solidFill>
            <a:srgbClr val="F8F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3640" y="3035808"/>
            <a:ext cx="5394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55"/>
                </a:solidFill>
                <a:latin typeface="Calibri Light"/>
              </a:rPr>
              <a:t>Deploy on BAA-covered cloud (AWS HealthLake, Azure Health), de-identify before LLM pass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968496"/>
            <a:ext cx="5303520" cy="9144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0233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8B0000"/>
                </a:solidFill>
                <a:latin typeface="Calibri"/>
              </a:rPr>
              <a:t>Regulatory (FDA SaMD)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2976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55"/>
                </a:solidFill>
                <a:latin typeface="Calibri Light"/>
              </a:rPr>
              <a:t>Clinical decision support tools may require FDA clearance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3968496"/>
            <a:ext cx="5650992" cy="91440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4059936"/>
            <a:ext cx="5394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55"/>
                </a:solidFill>
                <a:latin typeface="Calibri Light"/>
              </a:rPr>
              <a:t>Scope to 'clinician-in-the-loop' — advisory output only, not autonomous decisions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992624"/>
            <a:ext cx="53035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50474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8B0000"/>
                </a:solidFill>
                <a:latin typeface="Calibri"/>
              </a:rPr>
              <a:t>Model Bias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32180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55"/>
                </a:solidFill>
                <a:latin typeface="Calibri Light"/>
              </a:rPr>
              <a:t>Performance disparities across race, gender, socioeconomic groups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4992624"/>
            <a:ext cx="5650992" cy="914400"/>
          </a:xfrm>
          <a:prstGeom prst="rect">
            <a:avLst/>
          </a:prstGeom>
          <a:solidFill>
            <a:srgbClr val="F8F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63640" y="5084064"/>
            <a:ext cx="5394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55"/>
                </a:solidFill>
                <a:latin typeface="Calibri Light"/>
              </a:rPr>
              <a:t>Diverse training data, disparity auditing on de-identified payer datasets, ongoing monitoring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1901952"/>
            <a:ext cx="11274552" cy="25400"/>
          </a:xfrm>
          <a:prstGeom prst="rect">
            <a:avLst/>
          </a:prstGeom>
          <a:solidFill>
            <a:srgbClr val="D0C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02920" y="2926080"/>
            <a:ext cx="11274552" cy="25400"/>
          </a:xfrm>
          <a:prstGeom prst="rect">
            <a:avLst/>
          </a:prstGeom>
          <a:solidFill>
            <a:srgbClr val="D0C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02920" y="3950208"/>
            <a:ext cx="11274552" cy="25400"/>
          </a:xfrm>
          <a:prstGeom prst="rect">
            <a:avLst/>
          </a:prstGeom>
          <a:solidFill>
            <a:srgbClr val="D0C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02920" y="4974336"/>
            <a:ext cx="11274552" cy="25400"/>
          </a:xfrm>
          <a:prstGeom prst="rect">
            <a:avLst/>
          </a:prstGeom>
          <a:solidFill>
            <a:srgbClr val="D0C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655624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B8E8"/>
                </a:solidFill>
                <a:latin typeface="Calibri Light"/>
              </a:rPr>
              <a:t>MedIntel  |  Clinical NLP Intelligence Platform  |  Internship Assessment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5562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D4007A"/>
                </a:solidFill>
                <a:latin typeface="Calibri"/>
              </a:rPr>
              <a:t>CONFIDENTIAL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8B8E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007A"/>
                </a:solidFill>
                <a:latin typeface="Calibri Light"/>
              </a:rPr>
              <a:t>STRATEGIC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Three Actions to Lead the Clinical NLP 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12188952" cy="25400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11183112" cy="1463040"/>
          </a:xfrm>
          <a:prstGeom prst="rect">
            <a:avLst/>
          </a:prstGeom>
          <a:solidFill>
            <a:srgbClr val="2D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822960" cy="1463040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93852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645920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Build a Hybrid NLP Validation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029968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B8E8"/>
                </a:solidFill>
                <a:latin typeface="Calibri Light"/>
              </a:rPr>
              <a:t>Combine LLM extraction with rule-based validation against clinical ontologies (SNOMED, ICD-10, CPT). This catches hallucinations before they reach payment decisions.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670048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007A"/>
                </a:solidFill>
                <a:latin typeface="Calibri"/>
              </a:rPr>
              <a:t>12-month build  ·  Foundation for all downstream use cases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154680"/>
            <a:ext cx="11183112" cy="1463040"/>
          </a:xfrm>
          <a:prstGeom prst="rect">
            <a:avLst/>
          </a:prstGeom>
          <a:solidFill>
            <a:srgbClr val="2D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3154680"/>
            <a:ext cx="822960" cy="1463040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53872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246120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Create a Proprietary Evaluation 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630168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B8E8"/>
                </a:solidFill>
                <a:latin typeface="Calibri Light"/>
              </a:rPr>
              <a:t>Benchmark leading models (GPT-4o, Claude, Med-PaLM) on payer-side de-identified data. Build internal scorecards across specialties and claim types.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270248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007A"/>
                </a:solidFill>
                <a:latin typeface="Calibri"/>
              </a:rPr>
              <a:t>6-month initiative  ·  Creates defensible model selection criteria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754880"/>
            <a:ext cx="11183112" cy="1463040"/>
          </a:xfrm>
          <a:prstGeom prst="rect">
            <a:avLst/>
          </a:prstGeom>
          <a:solidFill>
            <a:srgbClr val="2D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4754880"/>
            <a:ext cx="822960" cy="1463040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513892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846320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Launch Prior Authorization Automation First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230368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B8E8"/>
                </a:solidFill>
                <a:latin typeface="Calibri Light"/>
              </a:rPr>
              <a:t>Clearest ROI, fastest time-to-value. AI reads PA requests against payer policy, flags exceptions, and routes complex cases to human reviewers.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870448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007A"/>
                </a:solidFill>
                <a:latin typeface="Calibri"/>
              </a:rPr>
              <a:t>18-month payback  ·  Immediate measurable impact on admin cost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655624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B8E8"/>
                </a:solidFill>
                <a:latin typeface="Calibri Light"/>
              </a:rPr>
              <a:t>MedIntel  |  Clinical NLP Intelligence Platform  |  Internship Assessment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562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D4007A"/>
                </a:solidFill>
                <a:latin typeface="Calibri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8B8E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A0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007A"/>
                </a:solidFill>
                <a:latin typeface="Calibri Light"/>
              </a:rPr>
              <a:t>PROOF OF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MedIntel: Live Clinical NLP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12188952" cy="25400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0A3D"/>
                </a:solidFill>
                <a:latin typeface="Calibri"/>
              </a:rPr>
              <a:t>What the App Does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20240"/>
            <a:ext cx="1005840" cy="438912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99339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75104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55"/>
                </a:solidFill>
                <a:latin typeface="Calibri Light"/>
              </a:rPr>
              <a:t>Real clinical notes from MTSamples (6 specialties) or uploaded images via OCR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514600"/>
            <a:ext cx="1005840" cy="438912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5877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Entities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569464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55"/>
                </a:solidFill>
                <a:latin typeface="Calibri Light"/>
              </a:rPr>
              <a:t>Named entity extraction — diagnoses, medications, labs, vitals, procedures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108960"/>
            <a:ext cx="1005840" cy="438912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18211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163824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55"/>
                </a:solidFill>
                <a:latin typeface="Calibri Light"/>
              </a:rPr>
              <a:t>Live-streaming clinical handoff summary (word-by-word via GPT-4o-mini)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703320"/>
            <a:ext cx="1005840" cy="438912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37764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ICD-10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758184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55"/>
                </a:solidFill>
                <a:latin typeface="Calibri Light"/>
              </a:rPr>
              <a:t>Code suggestions with HCC flags and justification from note text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297680"/>
            <a:ext cx="1005840" cy="438912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437083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Risk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352544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55"/>
                </a:solidFill>
                <a:latin typeface="Calibri Light"/>
              </a:rPr>
              <a:t>Patient acuity score 1-10, 30-day readmission risk, payment complexity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892040"/>
            <a:ext cx="1005840" cy="438912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96519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Prior Auth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946904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55"/>
                </a:solidFill>
                <a:latin typeface="Calibri Light"/>
              </a:rPr>
              <a:t>Per-service authorization requirements with documentation checklist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486400"/>
            <a:ext cx="1005840" cy="438912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55595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Fraud Flags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5541264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55"/>
                </a:solidFill>
                <a:latin typeface="Calibri Light"/>
              </a:rPr>
              <a:t>Payment integrity flags with severity, evidence, and recommendations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1463040"/>
            <a:ext cx="5486400" cy="5074920"/>
          </a:xfrm>
          <a:prstGeom prst="rect">
            <a:avLst/>
          </a:prstGeom>
          <a:solidFill>
            <a:srgbClr val="1A0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1645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2057400"/>
            <a:ext cx="5120640" cy="25400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0" y="21945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007A"/>
                </a:solidFill>
                <a:latin typeface="Calibri"/>
              </a:rPr>
              <a:t>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2194560"/>
            <a:ext cx="3794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B8E8"/>
                </a:solidFill>
                <a:latin typeface="Calibri Light"/>
              </a:rPr>
              <a:t>GPT-4o-mini (OpenAI) · GPT-4o for OCR vision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2724912"/>
            <a:ext cx="5120640" cy="25400"/>
          </a:xfrm>
          <a:prstGeom prst="rect">
            <a:avLst/>
          </a:prstGeom>
          <a:solidFill>
            <a:srgbClr val="442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92240" y="28803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007A"/>
                </a:solidFill>
                <a:latin typeface="Calibri"/>
              </a:rPr>
              <a:t>Framework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2880360"/>
            <a:ext cx="3794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B8E8"/>
                </a:solidFill>
                <a:latin typeface="Calibri Light"/>
              </a:rPr>
              <a:t>Streamlit — real-time streaming UI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3410712"/>
            <a:ext cx="5120640" cy="25400"/>
          </a:xfrm>
          <a:prstGeom prst="rect">
            <a:avLst/>
          </a:prstGeom>
          <a:solidFill>
            <a:srgbClr val="442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40" y="35661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007A"/>
                </a:solidFill>
                <a:latin typeface="Calibri"/>
              </a:rPr>
              <a:t>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3566160"/>
            <a:ext cx="3794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B8E8"/>
                </a:solidFill>
                <a:latin typeface="Calibri Light"/>
              </a:rPr>
              <a:t>MTSamples.com · MIMIC-III Demo (PhysioNet ODC)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4096512"/>
            <a:ext cx="5120640" cy="25400"/>
          </a:xfrm>
          <a:prstGeom prst="rect">
            <a:avLst/>
          </a:prstGeom>
          <a:solidFill>
            <a:srgbClr val="442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92240" y="42519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007A"/>
                </a:solidFill>
                <a:latin typeface="Calibri"/>
              </a:rPr>
              <a:t>Output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18120" y="4251960"/>
            <a:ext cx="3794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B8E8"/>
                </a:solidFill>
                <a:latin typeface="Calibri Light"/>
              </a:rPr>
              <a:t>Structured JSON · PDF export · Chat interface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4782312"/>
            <a:ext cx="5120640" cy="25400"/>
          </a:xfrm>
          <a:prstGeom prst="rect">
            <a:avLst/>
          </a:prstGeom>
          <a:solidFill>
            <a:srgbClr val="442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92240" y="49377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007A"/>
                </a:solidFill>
                <a:latin typeface="Calibri"/>
              </a:rPr>
              <a:t>Language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18120" y="4937760"/>
            <a:ext cx="3794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B8E8"/>
                </a:solidFill>
                <a:latin typeface="Calibri Light"/>
              </a:rPr>
              <a:t>Python 3.11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2240" y="5468112"/>
            <a:ext cx="5120640" cy="25400"/>
          </a:xfrm>
          <a:prstGeom prst="rect">
            <a:avLst/>
          </a:prstGeom>
          <a:solidFill>
            <a:srgbClr val="442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92240" y="56235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007A"/>
                </a:solidFill>
                <a:latin typeface="Calibri"/>
              </a:rPr>
              <a:t>Deploy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18120" y="5623560"/>
            <a:ext cx="3794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B8E8"/>
                </a:solidFill>
                <a:latin typeface="Calibri Light"/>
              </a:rPr>
              <a:t>Streamlit Community Cloud (public URL)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61264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D4007A"/>
                </a:solidFill>
                <a:latin typeface="Calibri"/>
              </a:rPr>
              <a:t>Live app available for demo  ·  GitHub repo included in submission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57200" y="655624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B8E8"/>
                </a:solidFill>
                <a:latin typeface="Calibri Light"/>
              </a:rPr>
              <a:t>MedIntel  |  Clinical NLP Intelligence Platform  |  Internship Assessment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65562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D4007A"/>
                </a:solidFill>
                <a:latin typeface="Calibri"/>
              </a:rPr>
              <a:t>CONFIDENTIAL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8B8E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2D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Clinical NLP Is Not
Future Tech — It's 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246120"/>
            <a:ext cx="7315200" cy="25400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D4007A"/>
                </a:solidFill>
                <a:latin typeface="Calibri"/>
              </a:rPr>
              <a:t>  •  </a:t>
            </a:r>
            <a:r>
              <a:rPr sz="1300">
                <a:solidFill>
                  <a:srgbClr val="C8B8E8"/>
                </a:solidFill>
                <a:latin typeface="Calibri"/>
              </a:rPr>
              <a:t>The infrastructure exists — LLMs are production-ready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4007A"/>
                </a:solidFill>
                <a:latin typeface="Calibri"/>
              </a:rPr>
              <a:t>  •  </a:t>
            </a:r>
            <a:r>
              <a:rPr sz="1300">
                <a:solidFill>
                  <a:srgbClr val="C8B8E8"/>
                </a:solidFill>
                <a:latin typeface="Calibri"/>
              </a:rPr>
              <a:t>The use cases are clear — PA, HCC, fraud, and quality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4007A"/>
                </a:solidFill>
                <a:latin typeface="Calibri"/>
              </a:rPr>
              <a:t>  •  </a:t>
            </a:r>
            <a:r>
              <a:rPr sz="1300">
                <a:solidFill>
                  <a:srgbClr val="C8B8E8"/>
                </a:solidFill>
                <a:latin typeface="Calibri"/>
              </a:rPr>
              <a:t>Speed to value requires starting with the highest-ROI workflow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166360"/>
            <a:ext cx="7223760" cy="1005840"/>
          </a:xfrm>
          <a:prstGeom prst="rect">
            <a:avLst/>
          </a:prstGeom>
          <a:solidFill>
            <a:srgbClr val="2D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5166360"/>
            <a:ext cx="201168" cy="1005840"/>
          </a:xfrm>
          <a:prstGeom prst="rect">
            <a:avLst/>
          </a:prstGeom>
          <a:solidFill>
            <a:srgbClr val="D4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5303520"/>
            <a:ext cx="6675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 Light"/>
              </a:rPr>
              <a:t>"The question is not whether to invest in clinical NLP —
it's which use case to start with."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01168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Pranitha Seemalamudi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48716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B8E8"/>
                </a:solidFill>
                <a:latin typeface="Calibri Light"/>
              </a:rPr>
              <a:t>seemalamudipranitha@gmail.com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66760" y="2926080"/>
            <a:ext cx="3108960" cy="25400"/>
          </a:xfrm>
          <a:prstGeom prst="rect">
            <a:avLst/>
          </a:prstGeom>
          <a:solidFill>
            <a:srgbClr val="442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2440" y="310896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007A"/>
                </a:solidFill>
                <a:latin typeface="Calibri"/>
              </a:rPr>
              <a:t>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45643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8B8E8"/>
                </a:solidFill>
                <a:latin typeface="Calibri Light"/>
              </a:rPr>
              <a:t>Johnson et al. MIMIC-III (2016). Scientific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3895344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8B8E8"/>
                </a:solidFill>
                <a:latin typeface="Calibri Light"/>
              </a:rPr>
              <a:t>Singhal et al. Med-PaLM 2 (2023). Nature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334256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8B8E8"/>
                </a:solidFill>
                <a:latin typeface="Calibri Light"/>
              </a:rPr>
              <a:t>Devlin et al. BERT (2019). NAACL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477316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8B8E8"/>
                </a:solidFill>
                <a:latin typeface="Calibri Light"/>
              </a:rPr>
              <a:t>Shrank et al. Waste in US Healthcare (2019). JAMA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D1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655624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B8E8"/>
                </a:solidFill>
                <a:latin typeface="Calibri Light"/>
              </a:rPr>
              <a:t>MedIntel  |  Clinical NLP Intelligence Platform  |  Internship Assessment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562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D4007A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1182</Words>
  <Application>Microsoft Macintosh PowerPoint</Application>
  <PresentationFormat>Custom</PresentationFormat>
  <Paragraphs>180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Seemalamudi, Pranitha</cp:lastModifiedBy>
  <cp:revision>3</cp:revision>
  <dcterms:created xsi:type="dcterms:W3CDTF">2013-01-27T09:14:16Z</dcterms:created>
  <dcterms:modified xsi:type="dcterms:W3CDTF">2026-08-12T23:20:45Z</dcterms:modified>
  <cp:category/>
</cp:coreProperties>
</file>